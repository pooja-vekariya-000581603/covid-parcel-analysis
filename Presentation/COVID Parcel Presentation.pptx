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D4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3F8-4B34-9570-B4BEB8C36CD1}"/>
              </c:ext>
            </c:extLst>
          </c:dPt>
          <c:dPt>
            <c:idx val="1"/>
            <c:bubble3D val="0"/>
            <c:spPr>
              <a:solidFill>
                <a:srgbClr val="FF5C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3F8-4B34-9570-B4BEB8C36CD1}"/>
              </c:ext>
            </c:extLst>
          </c:dPt>
          <c:dPt>
            <c:idx val="2"/>
            <c:bubble3D val="0"/>
            <c:spPr>
              <a:solidFill>
                <a:srgbClr val="FFB7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3F8-4B34-9570-B4BEB8C36CD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3F8-4B34-9570-B4BEB8C36CD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3F8-4B34-9570-B4BEB8C36CD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3F8-4B34-9570-B4BEB8C36CD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High Growth</c:v>
                </c:pt>
                <c:pt idx="1">
                  <c:v>Stable</c:v>
                </c:pt>
                <c:pt idx="2">
                  <c:v>Declining</c:v>
                </c:pt>
                <c:pt idx="3">
                  <c:v>Lost Customer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588</c:v>
                </c:pt>
                <c:pt idx="1">
                  <c:v>77</c:v>
                </c:pt>
                <c:pt idx="2">
                  <c:v>370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3F8-4B34-9570-B4BEB8C36C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Volume</c:v>
                </c:pt>
              </c:strCache>
            </c:strRef>
          </c:tx>
          <c:spPr>
            <a:solidFill>
              <a:srgbClr val="009B8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909-4D1A-9BF7-984ED18F430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909-4D1A-9BF7-984ED18F4308}"/>
              </c:ext>
            </c:extLst>
          </c:dPt>
          <c:dPt>
            <c:idx val="2"/>
            <c:invertIfNegative val="0"/>
            <c:bubble3D val="0"/>
            <c:spPr>
              <a:solidFill>
                <a:srgbClr val="00C9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909-4D1A-9BF7-984ED18F430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909-4D1A-9BF7-984ED18F430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162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49099478</c:v>
                </c:pt>
                <c:pt idx="1">
                  <c:v>52823114</c:v>
                </c:pt>
                <c:pt idx="2">
                  <c:v>73475690</c:v>
                </c:pt>
                <c:pt idx="3">
                  <c:v>48679668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909-4D1A-9BF7-984ED18F43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C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C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spPr>
            <a:ln w="25400" cap="flat">
              <a:solidFill>
                <a:srgbClr val="B8CCD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8CCDD"/>
              </a:solidFill>
              <a:ln w="9525" cap="flat">
                <a:solidFill>
                  <a:srgbClr val="B8CCDD"/>
                </a:solidFill>
                <a:prstDash val="solid"/>
                <a:round/>
              </a:ln>
              <a:effectLst/>
            </c:spPr>
          </c:marker>
          <c:cat>
            <c:strRef>
              <c:f>Sheet1!$A$2:$A$54</c:f>
              <c:strCache>
                <c:ptCount val="5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</c:strCache>
            </c:strRef>
          </c:cat>
          <c:val>
            <c:numRef>
              <c:f>Sheet1!$B$2:$B$54</c:f>
              <c:numCache>
                <c:formatCode>General</c:formatCode>
                <c:ptCount val="53"/>
                <c:pt idx="0">
                  <c:v>814361.0</c:v>
                </c:pt>
                <c:pt idx="1">
                  <c:v>1048800.0</c:v>
                </c:pt>
                <c:pt idx="2">
                  <c:v>1073634.0</c:v>
                </c:pt>
                <c:pt idx="3">
                  <c:v>937502.0</c:v>
                </c:pt>
                <c:pt idx="4">
                  <c:v>870849.0</c:v>
                </c:pt>
                <c:pt idx="5">
                  <c:v>788670.0</c:v>
                </c:pt>
                <c:pt idx="6">
                  <c:v>938386.0</c:v>
                </c:pt>
                <c:pt idx="7">
                  <c:v>764078.0</c:v>
                </c:pt>
                <c:pt idx="8">
                  <c:v>803745.0</c:v>
                </c:pt>
                <c:pt idx="9">
                  <c:v>792805.0</c:v>
                </c:pt>
                <c:pt idx="10">
                  <c:v>879574.0</c:v>
                </c:pt>
                <c:pt idx="11">
                  <c:v>864583.0</c:v>
                </c:pt>
                <c:pt idx="12">
                  <c:v>853762.0</c:v>
                </c:pt>
                <c:pt idx="13">
                  <c:v>817979.0</c:v>
                </c:pt>
                <c:pt idx="14">
                  <c:v>874088.0</c:v>
                </c:pt>
                <c:pt idx="15">
                  <c:v>879169.0</c:v>
                </c:pt>
                <c:pt idx="16">
                  <c:v>912863.0</c:v>
                </c:pt>
                <c:pt idx="17">
                  <c:v>1059240.0</c:v>
                </c:pt>
                <c:pt idx="18">
                  <c:v>1102598.0</c:v>
                </c:pt>
                <c:pt idx="19">
                  <c:v>951212.0</c:v>
                </c:pt>
                <c:pt idx="20">
                  <c:v>874423.0</c:v>
                </c:pt>
                <c:pt idx="21">
                  <c:v>881149.0</c:v>
                </c:pt>
                <c:pt idx="22">
                  <c:v>883913.0</c:v>
                </c:pt>
                <c:pt idx="23">
                  <c:v>958393.0</c:v>
                </c:pt>
                <c:pt idx="24">
                  <c:v>913925.0</c:v>
                </c:pt>
                <c:pt idx="25">
                  <c:v>860909.0</c:v>
                </c:pt>
                <c:pt idx="26">
                  <c:v>813454.0</c:v>
                </c:pt>
                <c:pt idx="27">
                  <c:v>980602.0</c:v>
                </c:pt>
                <c:pt idx="28">
                  <c:v>935925.0</c:v>
                </c:pt>
                <c:pt idx="29">
                  <c:v>883204.0</c:v>
                </c:pt>
                <c:pt idx="30">
                  <c:v>886248.0</c:v>
                </c:pt>
                <c:pt idx="31">
                  <c:v>815116.0</c:v>
                </c:pt>
                <c:pt idx="32">
                  <c:v>847028.0</c:v>
                </c:pt>
                <c:pt idx="33">
                  <c:v>977478.0</c:v>
                </c:pt>
                <c:pt idx="34">
                  <c:v>965679.0</c:v>
                </c:pt>
                <c:pt idx="35">
                  <c:v>856524.0</c:v>
                </c:pt>
                <c:pt idx="36">
                  <c:v>917470.0</c:v>
                </c:pt>
                <c:pt idx="37">
                  <c:v>962901.0</c:v>
                </c:pt>
                <c:pt idx="38">
                  <c:v>957015.0</c:v>
                </c:pt>
                <c:pt idx="39">
                  <c:v>889764.0</c:v>
                </c:pt>
                <c:pt idx="40">
                  <c:v>926572.0</c:v>
                </c:pt>
                <c:pt idx="41">
                  <c:v>1012358.0</c:v>
                </c:pt>
                <c:pt idx="42">
                  <c:v>1026545.0</c:v>
                </c:pt>
                <c:pt idx="43">
                  <c:v>1037382.0</c:v>
                </c:pt>
                <c:pt idx="44">
                  <c:v>1238944.0</c:v>
                </c:pt>
                <c:pt idx="45">
                  <c:v>1296707.0</c:v>
                </c:pt>
                <c:pt idx="46">
                  <c:v>1331492.0</c:v>
                </c:pt>
                <c:pt idx="47">
                  <c:v>1790660.0</c:v>
                </c:pt>
                <c:pt idx="48">
                  <c:v>2506405.0</c:v>
                </c:pt>
                <c:pt idx="49">
                  <c:v>1736772.0</c:v>
                </c:pt>
                <c:pt idx="50">
                  <c:v>1321183.0</c:v>
                </c:pt>
                <c:pt idx="51">
                  <c:v>916585.0</c:v>
                </c:pt>
                <c:pt idx="52">
                  <c:v>592491.0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B59-415C-823C-F5FA70534A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2020</c:v>
                </c:pt>
              </c:strCache>
            </c:strRef>
          </c:tx>
          <c:spPr>
            <a:ln w="25400" cap="flat">
              <a:solidFill>
                <a:srgbClr val="00C9B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9B1"/>
              </a:solidFill>
              <a:ln w="9525" cap="flat">
                <a:solidFill>
                  <a:srgbClr val="00C9B1"/>
                </a:solidFill>
                <a:prstDash val="solid"/>
                <a:round/>
              </a:ln>
              <a:effectLst/>
            </c:spPr>
          </c:marker>
          <c:cat>
            <c:strRef>
              <c:f>Sheet1!$A$2:$A$54</c:f>
              <c:strCache>
                <c:ptCount val="5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</c:strCache>
            </c:strRef>
          </c:cat>
          <c:val>
            <c:numRef>
              <c:f>Sheet1!$C$2:$C$54</c:f>
              <c:numCache>
                <c:formatCode>General</c:formatCode>
                <c:ptCount val="53"/>
                <c:pt idx="0">
                  <c:v>554951.0</c:v>
                </c:pt>
                <c:pt idx="1">
                  <c:v>1078417.0</c:v>
                </c:pt>
                <c:pt idx="2">
                  <c:v>1008084.0</c:v>
                </c:pt>
                <c:pt idx="3">
                  <c:v>934713.0</c:v>
                </c:pt>
                <c:pt idx="4">
                  <c:v>938521.0</c:v>
                </c:pt>
                <c:pt idx="5">
                  <c:v>873763.0</c:v>
                </c:pt>
                <c:pt idx="6">
                  <c:v>786626.0</c:v>
                </c:pt>
                <c:pt idx="7">
                  <c:v>882633.0</c:v>
                </c:pt>
                <c:pt idx="8">
                  <c:v>903362.0</c:v>
                </c:pt>
                <c:pt idx="9">
                  <c:v>891398.0</c:v>
                </c:pt>
                <c:pt idx="10">
                  <c:v>887335.0</c:v>
                </c:pt>
                <c:pt idx="11">
                  <c:v>967436.0</c:v>
                </c:pt>
                <c:pt idx="12">
                  <c:v>1084829.0</c:v>
                </c:pt>
                <c:pt idx="13">
                  <c:v>1346802.0</c:v>
                </c:pt>
                <c:pt idx="14">
                  <c:v>1480147.0</c:v>
                </c:pt>
                <c:pt idx="15">
                  <c:v>2003866.0</c:v>
                </c:pt>
                <c:pt idx="16">
                  <c:v>1914740.0</c:v>
                </c:pt>
                <c:pt idx="17">
                  <c:v>1964582.0</c:v>
                </c:pt>
                <c:pt idx="18">
                  <c:v>2016316.0</c:v>
                </c:pt>
                <c:pt idx="19">
                  <c:v>2048931.0</c:v>
                </c:pt>
                <c:pt idx="20">
                  <c:v>1842820.0</c:v>
                </c:pt>
                <c:pt idx="21">
                  <c:v>1749399.0</c:v>
                </c:pt>
                <c:pt idx="22">
                  <c:v>1672111.0</c:v>
                </c:pt>
                <c:pt idx="23">
                  <c:v>1598331.0</c:v>
                </c:pt>
                <c:pt idx="24">
                  <c:v>1454647.0</c:v>
                </c:pt>
                <c:pt idx="25">
                  <c:v>1426303.0</c:v>
                </c:pt>
                <c:pt idx="26">
                  <c:v>1306604.0</c:v>
                </c:pt>
                <c:pt idx="27">
                  <c:v>1371776.0</c:v>
                </c:pt>
                <c:pt idx="28">
                  <c:v>1269835.0</c:v>
                </c:pt>
                <c:pt idx="29">
                  <c:v>1319267.0</c:v>
                </c:pt>
                <c:pt idx="30">
                  <c:v>1205036.0</c:v>
                </c:pt>
                <c:pt idx="31">
                  <c:v>1250590.0</c:v>
                </c:pt>
                <c:pt idx="32">
                  <c:v>1228359.0</c:v>
                </c:pt>
                <c:pt idx="33">
                  <c:v>1286856.0</c:v>
                </c:pt>
                <c:pt idx="34">
                  <c:v>1240796.0</c:v>
                </c:pt>
                <c:pt idx="35">
                  <c:v>1273737.0</c:v>
                </c:pt>
                <c:pt idx="36">
                  <c:v>1135972.0</c:v>
                </c:pt>
                <c:pt idx="37">
                  <c:v>1285061.0</c:v>
                </c:pt>
                <c:pt idx="38">
                  <c:v>1214387.0</c:v>
                </c:pt>
                <c:pt idx="39">
                  <c:v>1108258.0</c:v>
                </c:pt>
                <c:pt idx="40">
                  <c:v>1275676.0</c:v>
                </c:pt>
                <c:pt idx="41">
                  <c:v>1240437.0</c:v>
                </c:pt>
                <c:pt idx="42">
                  <c:v>1379348.0</c:v>
                </c:pt>
                <c:pt idx="43">
                  <c:v>1370162.0</c:v>
                </c:pt>
                <c:pt idx="44">
                  <c:v>1451789.0</c:v>
                </c:pt>
                <c:pt idx="45">
                  <c:v>1600614.0</c:v>
                </c:pt>
                <c:pt idx="46">
                  <c:v>1792533.0</c:v>
                </c:pt>
                <c:pt idx="47">
                  <c:v>2302321.0</c:v>
                </c:pt>
                <c:pt idx="48">
                  <c:v>2952342.0</c:v>
                </c:pt>
                <c:pt idx="49">
                  <c:v>2104379.0</c:v>
                </c:pt>
                <c:pt idx="50">
                  <c:v>1714827.0</c:v>
                </c:pt>
                <c:pt idx="51">
                  <c:v>1063727.0</c:v>
                </c:pt>
                <c:pt idx="52">
                  <c:v>1419938.0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B59-415C-823C-F5FA70534A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  <c:min val="1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C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8C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2040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663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5029200" cy="5029200"/>
          </a:xfrm>
          <a:prstGeom prst="ellipse">
            <a:avLst/>
          </a:prstGeom>
          <a:solidFill>
            <a:srgbClr val="00C9B1">
              <a:alpha val="12000"/>
            </a:srgbClr>
          </a:solidFill>
          <a:ln w="6350">
            <a:solidFill>
              <a:srgbClr val="00C9B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00C9B1">
              <a:alpha val="8000"/>
            </a:srgbClr>
          </a:solidFill>
          <a:ln w="6350">
            <a:solidFill>
              <a:srgbClr val="00C9B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00C9B1">
              <a:alpha val="20000"/>
            </a:srgbClr>
          </a:solidFill>
          <a:ln w="63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B1"/>
                </a:solidFill>
              </a:rPr>
              <a:t>GROUP ASSIGNMENT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COVID-19 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1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Company's Parcel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" y="29718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Business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9436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C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Data-Driven Analysis | 2018–2021 | Python &amp; Pandas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C9B1">
              <a:alpha val="8000"/>
            </a:srgbClr>
          </a:solidFill>
          <a:ln w="381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190,719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Records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34640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2018–2021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40880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4773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C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ISGR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Analyzing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65176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07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190,719 weekly parcel records across 2018–2021 for ABC Company's customer base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50876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54680" y="1508760"/>
            <a:ext cx="2651760" cy="54864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154680" y="16276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291840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63347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3A5070"/>
                </a:solidFill>
                <a:latin typeface="Calibri Light"/>
              </a:rPr>
              <a:t>Calculate the ISGR, identify the COVID onset week, and classify customers during the COVID observation period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150876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989320" y="1508760"/>
            <a:ext cx="2651760" cy="54864"/>
          </a:xfrm>
          <a:prstGeom prst="rect">
            <a:avLst/>
          </a:prstGeom>
          <a:solidFill>
            <a:srgbClr val="FF5C6B"/>
          </a:solidFill>
          <a:ln w="12700">
            <a:solidFill>
              <a:srgbClr val="FF5C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989320" y="16276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26480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2633472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3A5070"/>
                </a:solidFill>
                <a:latin typeface="Calibri Light"/>
              </a:rPr>
              <a:t>Understand COVID-19's impact, compare peak seasons, and estimate customer-group performance transparently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/>
              <a:t>Notebook note: official customer groups and discount tiers were not provided, so proxy groups and gross revenue estimates were used.</a:t>
            </a:r>
            <a:endParaRPr lang="en-US" sz="1000" dirty="0"/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5486400" cy="5486400"/>
          </a:xfrm>
          <a:prstGeom prst="ellipse">
            <a:avLst/>
          </a:prstGeom>
          <a:solidFill>
            <a:srgbClr val="00C9B1">
              <a:alpha val="7000"/>
            </a:srgbClr>
          </a:solidFill>
          <a:ln w="3810">
            <a:solidFill>
              <a:srgbClr val="00C9B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INDUSTRY STANDARD GROWTH RATE (ISGR)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Was the Industry Growing?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C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Weeks 1–15, 2020 vs. Weeks 1–15, 2019 (Pre-COVID Baseline)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697480" cy="1737360"/>
          </a:xfrm>
          <a:prstGeom prst="rect">
            <a:avLst/>
          </a:prstGeom>
          <a:solidFill>
            <a:srgbClr val="0D2040"/>
          </a:solidFill>
          <a:ln w="19050">
            <a:solidFill>
              <a:srgbClr val="6B8CA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13,122,816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(Wk 1–15, 2019)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71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C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 Period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1828800"/>
            <a:ext cx="2697480" cy="1737360"/>
          </a:xfrm>
          <a:prstGeom prst="rect">
            <a:avLst/>
          </a:prstGeom>
          <a:solidFill>
            <a:srgbClr val="0D2040"/>
          </a:solidFill>
          <a:ln w="19050">
            <a:solidFill>
              <a:srgbClr val="00C9B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14,619,017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2651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(Wk 1–15, 2020)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971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B8CCDD"/>
                </a:solidFill>
                <a:latin typeface="Calibri Light"/>
              </a:rPr>
              <a:t>Current Period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2697480" cy="1737360"/>
          </a:xfrm>
          <a:prstGeom prst="rect">
            <a:avLst/>
          </a:prstGeom>
          <a:solidFill>
            <a:srgbClr val="0D2040"/>
          </a:solidFill>
          <a:ln w="19050">
            <a:solidFill>
              <a:srgbClr val="FFB7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17920" y="2651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ISGR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2971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CC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Industry Growth Rate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794760"/>
            <a:ext cx="8412480" cy="594360"/>
          </a:xfrm>
          <a:prstGeom prst="rect">
            <a:avLst/>
          </a:prstGeom>
          <a:solidFill>
            <a:srgbClr val="0D2040"/>
          </a:solidFill>
          <a:ln w="63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" y="38221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50">
                <a:solidFill>
                  <a:srgbClr val="00C9B1"/>
                </a:solidFill>
                <a:latin typeface="Consolas"/>
              </a:rPr>
              <a:t>ISGR Formula:   ISGR = ( Vol_2020 − Vol_2019 ) ÷ Vol_2019 × 100   =   ( 14,619,017 − 13,122,816 ) ÷ 13,122,816 × 100   =   11.40%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1050">
                <a:solidFill>
                  <a:srgbClr val="B8CCDD"/>
                </a:solidFill>
                <a:latin typeface="Calibri Light"/>
              </a:rPr>
              <a:t>✅  The ISGR of 11.40% is the benchmark used to classify customer performance in the COVID observation period.</a:t>
            </a:r>
            <a:endParaRPr lang="en-US" sz="1050" dirty="0"/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CUSTOMER CATEGORIZATION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 b="1">
                <a:solidFill>
                  <a:srgbClr val="0A1628"/>
                </a:solidFill>
                <a:latin typeface="Calibri"/>
              </a:rPr>
              <a:t>Observed Customer Outcomes in the COVID Window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64008" cy="749808"/>
          </a:xfrm>
          <a:prstGeom prst="rect">
            <a:avLst/>
          </a:prstGeom>
          <a:solidFill>
            <a:srgbClr val="5C7CFA"/>
          </a:solidFill>
          <a:ln w="12700">
            <a:solidFill>
              <a:srgbClr val="5C7C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0A1628"/>
                </a:solidFill>
                <a:latin typeface="Calibri"/>
              </a:rPr>
              <a:t>🔒 Lost Customer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6537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6B8CAE"/>
                </a:solidFill>
                <a:latin typeface="Consolas"/>
              </a:rPr>
              <a:t>Vol_2019 (Wk 12–53) &gt; 0  &amp;  Vol_2020 (Wk 12–53) = 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15361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5C7CFA"/>
                </a:solidFill>
                <a:latin typeface="Calibri"/>
              </a:rPr>
              <a:t>25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0" y="1901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909560" y="1627632"/>
            <a:ext cx="713232" cy="420624"/>
          </a:xfrm>
          <a:prstGeom prst="roundRect">
            <a:avLst>
              <a:gd name="adj" fmla="val 10870"/>
            </a:avLst>
          </a:prstGeom>
          <a:solidFill>
            <a:srgbClr val="5C7CFA">
              <a:alpha val="15000"/>
            </a:srgbClr>
          </a:solidFill>
          <a:ln w="6350">
            <a:solidFill>
              <a:srgbClr val="5C7C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909560" y="164592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5C7CFA"/>
                </a:solidFill>
                <a:latin typeface="Calibri"/>
              </a:rPr>
              <a:t>2.4%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84124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64008" cy="749808"/>
          </a:xfrm>
          <a:prstGeom prst="rect">
            <a:avLst/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" y="24414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High Growth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27340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 Rate &gt; 11.40% (ISGR)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240487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2DD4A0"/>
                </a:solidFill>
                <a:latin typeface="Calibri"/>
              </a:rPr>
              <a:t>588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0" y="27706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909560" y="2496312"/>
            <a:ext cx="713232" cy="420624"/>
          </a:xfrm>
          <a:prstGeom prst="roundRect">
            <a:avLst>
              <a:gd name="adj" fmla="val 10870"/>
            </a:avLst>
          </a:prstGeom>
          <a:solidFill>
            <a:srgbClr val="2DD4A0">
              <a:alpha val="15000"/>
            </a:srgbClr>
          </a:solidFill>
          <a:ln w="6350">
            <a:solidFill>
              <a:srgbClr val="2DD4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909560" y="251460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2DD4A0"/>
                </a:solidFill>
                <a:latin typeface="Calibri"/>
              </a:rPr>
              <a:t>55.5%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84124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200400"/>
            <a:ext cx="64008" cy="749808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33101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0A1628"/>
                </a:solidFill>
                <a:latin typeface="Calibri"/>
              </a:rPr>
              <a:t>📈 Stable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6027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6B8CAE"/>
                </a:solidFill>
                <a:latin typeface="Consolas"/>
              </a:rPr>
              <a:t>0% ≤ Growth Rate ≤ 11.40%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32735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B740"/>
                </a:solidFill>
                <a:latin typeface="Calibri"/>
              </a:rPr>
              <a:t>77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58000" y="3639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909560" y="3364992"/>
            <a:ext cx="713232" cy="420624"/>
          </a:xfrm>
          <a:prstGeom prst="roundRect">
            <a:avLst>
              <a:gd name="adj" fmla="val 10870"/>
            </a:avLst>
          </a:prstGeom>
          <a:solidFill>
            <a:srgbClr val="FFB740">
              <a:alpha val="15000"/>
            </a:srgbClr>
          </a:solidFill>
          <a:ln w="6350">
            <a:solidFill>
              <a:srgbClr val="FFB7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909560" y="338328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B740"/>
                </a:solidFill>
                <a:latin typeface="Calibri"/>
              </a:rPr>
              <a:t>7.3%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069080"/>
            <a:ext cx="84124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65760" y="4069080"/>
            <a:ext cx="64008" cy="749808"/>
          </a:xfrm>
          <a:prstGeom prst="rect">
            <a:avLst/>
          </a:prstGeom>
          <a:solidFill>
            <a:srgbClr val="FF5C6B"/>
          </a:solidFill>
          <a:ln w="12700">
            <a:solidFill>
              <a:srgbClr val="FF5C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48640" y="41788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Declining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44714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 Rate &lt; 0%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41422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5C6B"/>
                </a:solidFill>
                <a:latin typeface="Calibri"/>
              </a:rPr>
              <a:t>370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858000" y="45079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CA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909560" y="4233672"/>
            <a:ext cx="713232" cy="420624"/>
          </a:xfrm>
          <a:prstGeom prst="roundRect">
            <a:avLst>
              <a:gd name="adj" fmla="val 10870"/>
            </a:avLst>
          </a:prstGeom>
          <a:solidFill>
            <a:srgbClr val="FF5C6B">
              <a:alpha val="15000"/>
            </a:srgbClr>
          </a:solidFill>
          <a:ln w="6350">
            <a:solidFill>
              <a:srgbClr val="FF5C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909560" y="425196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5C6B"/>
                </a:solidFill>
                <a:latin typeface="Calibri"/>
              </a:rPr>
              <a:t>34.9%</a:t>
            </a:r>
            <a:endParaRPr lang="en-US" sz="1200" dirty="0"/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1 — CUSTOMER DISTRIBUTION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Calibri"/>
              </a:rPr>
              <a:t>Who Grew, Stayed Stable, or Were Lost?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>
                <a:solidFill>
                  <a:srgbClr val="B8CCDD"/>
                </a:solidFill>
                <a:latin typeface="Calibri Light"/>
              </a:rPr>
              <a:t>COVID observation period: Weeks 12–53, 2019 vs 2020 (n = 1,060 customers)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69164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920240"/>
            <a:ext cx="3017520" cy="914400"/>
          </a:xfrm>
          <a:prstGeom prst="rect">
            <a:avLst/>
          </a:prstGeom>
          <a:solidFill>
            <a:srgbClr val="0D2040"/>
          </a:solidFill>
          <a:ln w="15240">
            <a:solidFill>
              <a:srgbClr val="2DD4A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760720" y="1920240"/>
            <a:ext cx="54864" cy="914400"/>
          </a:xfrm>
          <a:prstGeom prst="rect">
            <a:avLst/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897880" y="2011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>
                <a:solidFill>
                  <a:srgbClr val="2DD4A0"/>
                </a:solidFill>
                <a:latin typeface="Calibri"/>
              </a:rPr>
              <a:t>55.5%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897880" y="2414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</a:rPr>
              <a:t>High Growth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0" y="20299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100">
                <a:solidFill>
                  <a:srgbClr val="B8CCDD"/>
                </a:solidFill>
                <a:latin typeface="Calibri Light"/>
              </a:rPr>
              <a:t>588 customers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3017520"/>
            <a:ext cx="3017520" cy="914400"/>
          </a:xfrm>
          <a:prstGeom prst="rect">
            <a:avLst/>
          </a:prstGeom>
          <a:solidFill>
            <a:srgbClr val="0D2040"/>
          </a:solidFill>
          <a:ln w="15240">
            <a:solidFill>
              <a:srgbClr val="FF5C6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760720" y="3017520"/>
            <a:ext cx="54864" cy="914400"/>
          </a:xfrm>
          <a:prstGeom prst="rect">
            <a:avLst/>
          </a:prstGeom>
          <a:solidFill>
            <a:srgbClr val="FF5C6B"/>
          </a:solidFill>
          <a:ln w="12700">
            <a:solidFill>
              <a:srgbClr val="FF5C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897880" y="31089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>
                <a:solidFill>
                  <a:srgbClr val="FF5C6B"/>
                </a:solidFill>
                <a:latin typeface="Calibri"/>
              </a:rPr>
              <a:t>34.9%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897880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</a:rPr>
              <a:t>Declining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0" y="3127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100">
                <a:solidFill>
                  <a:srgbClr val="B8CCDD"/>
                </a:solidFill>
                <a:latin typeface="Calibri Light"/>
              </a:rPr>
              <a:t>370 customers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760720" y="4114800"/>
            <a:ext cx="3017520" cy="914400"/>
          </a:xfrm>
          <a:prstGeom prst="rect">
            <a:avLst/>
          </a:prstGeom>
          <a:solidFill>
            <a:srgbClr val="0D2040"/>
          </a:solidFill>
          <a:ln w="15240">
            <a:solidFill>
              <a:srgbClr val="FFB7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760720" y="4114800"/>
            <a:ext cx="54864" cy="91440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897880" y="4206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200" b="1">
                <a:solidFill>
                  <a:srgbClr val="FFB740"/>
                </a:solidFill>
                <a:latin typeface="Calibri"/>
              </a:rPr>
              <a:t>7.3%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897880" y="4608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100">
                <a:solidFill>
                  <a:srgbClr val="FFFFFF"/>
                </a:solidFill>
                <a:latin typeface="Calibri"/>
              </a:rPr>
              <a:t>Stable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15200" y="4224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100">
                <a:solidFill>
                  <a:srgbClr val="B8CCDD"/>
                </a:solidFill>
                <a:latin typeface="Calibri Light"/>
              </a:rPr>
              <a:t>77 customers</a:t>
            </a:r>
            <a:endParaRPr lang="en-US" sz="1100" dirty="0"/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2 — TOTAL VOLUME BY YEAR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Volumes Peaked in 2020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>
                <a:solidFill>
                  <a:srgbClr val="6B8CAE"/>
                </a:solidFill>
                <a:latin typeface="Calibri Light"/>
              </a:rPr>
              <a:t>Annual volumes peaked in 2020, then normalised in 2021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691640"/>
          <a:ext cx="57607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691640"/>
            <a:ext cx="2606040" cy="3291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309360" y="17373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2148840"/>
            <a:ext cx="2377440" cy="594360"/>
          </a:xfrm>
          <a:prstGeom prst="rect">
            <a:avLst/>
          </a:prstGeom>
          <a:solidFill>
            <a:srgbClr val="0D2040"/>
          </a:solidFill>
          <a:ln w="6350">
            <a:solidFill>
              <a:srgbClr val="B8CC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46520" y="22128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B8CCDD"/>
                </a:solidFill>
                <a:latin typeface="Calibri"/>
              </a:rPr>
              <a:t>2018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46520" y="2468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B8CCDD"/>
                </a:solidFill>
                <a:latin typeface="Calibri Light"/>
              </a:rPr>
              <a:t>~49.1M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498080" y="2304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CCDD"/>
                </a:solidFill>
                <a:latin typeface="Calibri"/>
              </a:rPr>
              <a:t>Baseline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355080" y="2852928"/>
            <a:ext cx="2377440" cy="594360"/>
          </a:xfrm>
          <a:prstGeom prst="rect">
            <a:avLst/>
          </a:prstGeom>
          <a:solidFill>
            <a:srgbClr val="0D2040"/>
          </a:solidFill>
          <a:ln w="6350">
            <a:solidFill>
              <a:srgbClr val="B8CC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446520" y="29169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B8CCDD"/>
                </a:solidFill>
                <a:latin typeface="Calibri"/>
              </a:rPr>
              <a:t>2019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46520" y="31729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B8CCDD"/>
                </a:solidFill>
                <a:latin typeface="Calibri Light"/>
              </a:rPr>
              <a:t>~52.8M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498080" y="3008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B8CCDD"/>
                </a:solidFill>
                <a:latin typeface="Calibri"/>
              </a:rPr>
              <a:t>+7.6% YoY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55080" y="3557016"/>
            <a:ext cx="2377440" cy="594360"/>
          </a:xfrm>
          <a:prstGeom prst="rect">
            <a:avLst/>
          </a:prstGeom>
          <a:solidFill>
            <a:srgbClr val="0D2040"/>
          </a:solidFill>
          <a:ln w="635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446520" y="36210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00C9B1"/>
                </a:solidFill>
                <a:latin typeface="Calibri"/>
              </a:rPr>
              <a:t>2020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46520" y="38770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B8CCDD"/>
                </a:solidFill>
                <a:latin typeface="Calibri Light"/>
              </a:rPr>
              <a:t>~73.5M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498080" y="37124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00C9B1"/>
                </a:solidFill>
                <a:latin typeface="Calibri"/>
              </a:rPr>
              <a:t>+39.1% YoY 🚀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355080" y="4261104"/>
            <a:ext cx="2377440" cy="594360"/>
          </a:xfrm>
          <a:prstGeom prst="rect">
            <a:avLst/>
          </a:prstGeom>
          <a:solidFill>
            <a:srgbClr val="0D2040"/>
          </a:solidFill>
          <a:ln w="6350">
            <a:solidFill>
              <a:srgbClr val="FF5C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446520" y="43251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FF5C6B"/>
                </a:solidFill>
                <a:latin typeface="Calibri"/>
              </a:rPr>
              <a:t>2021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446520" y="45811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00">
                <a:solidFill>
                  <a:srgbClr val="B8CCDD"/>
                </a:solidFill>
                <a:latin typeface="Calibri Light"/>
              </a:rPr>
              <a:t>~48.7M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498080" y="44165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1">
                <a:solidFill>
                  <a:srgbClr val="FF5C6B"/>
                </a:solidFill>
                <a:latin typeface="Calibri"/>
              </a:rPr>
              <a:t>-33.7% YoY</a:t>
            </a:r>
            <a:endParaRPr lang="en-US" sz="1000" dirty="0"/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3 — WEEKLY PARCEL VOLUME TREND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vs 2020: Week-by-Week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100">
                <a:solidFill>
                  <a:srgbClr val="B8CCDD"/>
                </a:solidFill>
                <a:latin typeface="Calibri Light"/>
              </a:rPr>
              <a:t>Impact becomes visible around Week 12, with much stronger acceleration from Weeks 13–16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691640"/>
          <a:ext cx="8595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BUSINESS INSIGHTS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114800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54864" cy="16002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6184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618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0A1628"/>
                </a:solidFill>
                <a:latin typeface="Calibri"/>
              </a:rPr>
              <a:t>COVID impact became visible around Week 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3A5070"/>
                </a:solidFill>
                <a:latin typeface="Calibri Light"/>
              </a:rPr>
              <a:t>Weekly volume stayed close to 2019 through Week 11, then rose above the ISGR threshold from Week 12 and accelerated sharply in Weeks 13–16.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4114800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709160" y="1508760"/>
            <a:ext cx="54864" cy="1600200"/>
          </a:xfrm>
          <a:prstGeom prst="rect">
            <a:avLst/>
          </a:prstGeom>
          <a:solidFill>
            <a:srgbClr val="2DD4A0"/>
          </a:solidFill>
          <a:ln w="12700">
            <a:solidFill>
              <a:srgbClr val="2DD4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00600" y="16184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49240" y="16184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0A1628"/>
                </a:solidFill>
                <a:latin typeface="Calibri"/>
              </a:rPr>
              <a:t>Most customers were High Growth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0574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3A5070"/>
                </a:solidFill>
                <a:latin typeface="Calibri Light"/>
              </a:rPr>
              <a:t>55.5% of comparable customers (588) outperformed the ISGR during the COVID observation period.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337560"/>
            <a:ext cx="4114800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0040" y="3337560"/>
            <a:ext cx="54864" cy="160020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34472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4472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0A1628"/>
                </a:solidFill>
                <a:latin typeface="Calibri"/>
              </a:rPr>
              <a:t>Declining and lost customers still matter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3A5070"/>
                </a:solidFill>
                <a:latin typeface="Calibri Light"/>
              </a:rPr>
              <a:t>34.9% declined and 2.4% were lost, which suggests that some client segments were negatively affected even as total volume grew.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337560"/>
            <a:ext cx="4114800" cy="1600200"/>
          </a:xfrm>
          <a:prstGeom prst="rect">
            <a:avLst/>
          </a:prstGeom>
          <a:solidFill>
            <a:srgbClr val="FFFFFF"/>
          </a:solidFill>
          <a:ln w="10160">
            <a:solidFill>
              <a:srgbClr val="E0EA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09160" y="3337560"/>
            <a:ext cx="54864" cy="1600200"/>
          </a:xfrm>
          <a:prstGeom prst="rect">
            <a:avLst/>
          </a:prstGeom>
          <a:solidFill>
            <a:srgbClr val="FF5C6B"/>
          </a:solidFill>
          <a:ln w="12700">
            <a:solidFill>
              <a:srgbClr val="FF5C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00600" y="344728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49240" y="34472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0A1628"/>
                </a:solidFill>
                <a:latin typeface="Calibri"/>
              </a:rPr>
              <a:t>2020 peak season outperformed 2019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886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3A5070"/>
                </a:solidFill>
                <a:latin typeface="Calibri Light"/>
              </a:rPr>
              <a:t>Using the full-week approximation in the notebook, 2020 peak season volume was up 27.3% versus the 2019 peak season.</a:t>
            </a:r>
            <a:endParaRPr lang="en-US" sz="1050" dirty="0"/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40280" y="2606040"/>
            <a:ext cx="411480" cy="0"/>
          </a:xfrm>
          <a:prstGeom prst="line">
            <a:avLst/>
          </a:prstGeom>
          <a:noFill/>
          <a:ln w="19050">
            <a:solidFill>
              <a:srgbClr val="00C9B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1920240" cy="3108960"/>
          </a:xfrm>
          <a:prstGeom prst="rect">
            <a:avLst/>
          </a:prstGeom>
          <a:solidFill>
            <a:srgbClr val="0D2040"/>
          </a:solidFill>
          <a:ln w="10160">
            <a:solidFill>
              <a:srgbClr val="00C9B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0" y="1417320"/>
            <a:ext cx="685800" cy="5486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1435608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0848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Upload &amp; Exploration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2743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CC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Loaded CSV into Pandas DataFrame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8CC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190,719 rows × 4 columns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" y="3749040"/>
            <a:ext cx="169164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009B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29768" y="37673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pandas, io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0" y="2606040"/>
            <a:ext cx="411480" cy="0"/>
          </a:xfrm>
          <a:prstGeom prst="line">
            <a:avLst/>
          </a:prstGeom>
          <a:noFill/>
          <a:ln w="19050">
            <a:solidFill>
              <a:srgbClr val="00C9B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468880" y="1554480"/>
            <a:ext cx="1920240" cy="3108960"/>
          </a:xfrm>
          <a:prstGeom prst="rect">
            <a:avLst/>
          </a:prstGeom>
          <a:solidFill>
            <a:srgbClr val="0D2040"/>
          </a:solidFill>
          <a:ln w="10160">
            <a:solidFill>
              <a:srgbClr val="00C9B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063240" y="1417320"/>
            <a:ext cx="685800" cy="5486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063240" y="1435608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78608" y="20848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00C9B1"/>
                </a:solidFill>
                <a:latin typeface="Calibri"/>
              </a:rPr>
              <a:t>ISGR + Timing Analysis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78608" y="2743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>
                <a:solidFill>
                  <a:srgbClr val="B8CCDD"/>
                </a:solidFill>
                <a:latin typeface="Calibri Light"/>
              </a:rPr>
              <a:t>Calculated Weeks 1–15 ISGR and compared weekly 2019 vs 2020 totals to identify Week 12 as the COVID onset point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78608" y="3749040"/>
            <a:ext cx="169164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009B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578608" y="37673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37960" y="2606040"/>
            <a:ext cx="411480" cy="0"/>
          </a:xfrm>
          <a:prstGeom prst="line">
            <a:avLst/>
          </a:prstGeom>
          <a:noFill/>
          <a:ln w="19050">
            <a:solidFill>
              <a:srgbClr val="00C9B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617720" y="1554480"/>
            <a:ext cx="1920240" cy="3108960"/>
          </a:xfrm>
          <a:prstGeom prst="rect">
            <a:avLst/>
          </a:prstGeom>
          <a:solidFill>
            <a:srgbClr val="0D2040"/>
          </a:solidFill>
          <a:ln w="10160">
            <a:solidFill>
              <a:srgbClr val="00C9B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212080" y="1417320"/>
            <a:ext cx="685800" cy="5486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212080" y="1435608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27448" y="20848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00C9B1"/>
                </a:solidFill>
                <a:latin typeface="Calibri"/>
              </a:rPr>
              <a:t>Customer Categorization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27448" y="2743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>
                <a:solidFill>
                  <a:srgbClr val="B8CCDD"/>
                </a:solidFill>
                <a:latin typeface="Calibri Light"/>
              </a:rPr>
              <a:t>Compared Weeks 12–53 in 2019 vs 2020 and labelled High Growth, Stable, Declining, and Lost Customer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27448" y="3749040"/>
            <a:ext cx="169164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009B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27448" y="37673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9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pandas, lambda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1554480"/>
            <a:ext cx="1920240" cy="3108960"/>
          </a:xfrm>
          <a:prstGeom prst="rect">
            <a:avLst/>
          </a:prstGeom>
          <a:solidFill>
            <a:srgbClr val="0D2040"/>
          </a:solidFill>
          <a:ln w="10160">
            <a:solidFill>
              <a:srgbClr val="00C9B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360920" y="1417320"/>
            <a:ext cx="685800" cy="54864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360920" y="1435608"/>
            <a:ext cx="685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76288" y="20848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00C9B1"/>
                </a:solidFill>
                <a:latin typeface="Calibri"/>
              </a:rPr>
              <a:t>Proxy Groups &amp; Outputs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76288" y="2743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>
                <a:solidFill>
                  <a:srgbClr val="B8CCDD"/>
                </a:solidFill>
                <a:latin typeface="Calibri Light"/>
              </a:rPr>
              <a:t>Built quartile-based proxy groups, estimated gross revenue at $22 per parcel, and exported summary tables for Power BI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76288" y="3749040"/>
            <a:ext cx="1691640" cy="329184"/>
          </a:xfrm>
          <a:prstGeom prst="rect">
            <a:avLst/>
          </a:prstGeom>
          <a:solidFill>
            <a:srgbClr val="0A1628"/>
          </a:solidFill>
          <a:ln w="6350">
            <a:solidFill>
              <a:srgbClr val="009B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876288" y="376732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00C9B1"/>
                </a:solidFill>
                <a:latin typeface="Consolas"/>
              </a:rPr>
              <a:t>pandas, numpy, matplotlib</a:t>
            </a:r>
            <a:endParaRPr lang="en-US" sz="900" dirty="0"/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00C9B1">
              <a:alpha val="10000"/>
            </a:srgbClr>
          </a:solidFill>
          <a:ln w="3810">
            <a:solidFill>
              <a:srgbClr val="00C9B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0C9B1">
              <a:alpha val="7000"/>
            </a:srgbClr>
          </a:solidFill>
          <a:ln w="3810">
            <a:solidFill>
              <a:srgbClr val="00C9B1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ABC Company Do Next?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1005840"/>
          </a:xfrm>
          <a:prstGeom prst="rect">
            <a:avLst/>
          </a:prstGeom>
          <a:solidFill>
            <a:srgbClr val="0D2040"/>
          </a:solidFill>
          <a:ln w="10160">
            <a:solidFill>
              <a:srgbClr val="00C9B1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64008" cy="10058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160020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00C9B1"/>
                </a:solidFill>
                <a:latin typeface="Calibri"/>
              </a:rPr>
              <a:t>Retain High Growth Customers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94767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B8CCDD"/>
                </a:solidFill>
                <a:latin typeface="Calibri Light"/>
              </a:rPr>
              <a:t>The 588 high-growth customers were the strongest part of the portfolio during the COVID observation period. Protect service quality and prioritise retention.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8412480" cy="1005840"/>
          </a:xfrm>
          <a:prstGeom prst="rect">
            <a:avLst/>
          </a:prstGeom>
          <a:solidFill>
            <a:srgbClr val="0D2040"/>
          </a:solidFill>
          <a:ln w="10160">
            <a:solidFill>
              <a:srgbClr val="FFB7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64008" cy="1005840"/>
          </a:xfrm>
          <a:prstGeom prst="rect">
            <a:avLst/>
          </a:prstGeom>
          <a:solidFill>
            <a:srgbClr val="FFB740"/>
          </a:solidFill>
          <a:ln w="12700">
            <a:solidFill>
              <a:srgbClr val="FFB7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274320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FB740"/>
                </a:solidFill>
                <a:latin typeface="Calibri"/>
              </a:rPr>
              <a:t>Re-engage Declining and Lost Customers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09067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B8CCDD"/>
                </a:solidFill>
                <a:latin typeface="Calibri Light"/>
              </a:rPr>
              <a:t>370 customers declined and 25 were lost. Targeted outreach and account reviews could recover part of this base.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0D2040"/>
          </a:solidFill>
          <a:ln w="10160">
            <a:solidFill>
              <a:srgbClr val="FF5C6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3794760"/>
            <a:ext cx="64008" cy="1005840"/>
          </a:xfrm>
          <a:prstGeom prst="rect">
            <a:avLst/>
          </a:prstGeom>
          <a:solidFill>
            <a:srgbClr val="FF5C6B"/>
          </a:solidFill>
          <a:ln w="12700">
            <a:solidFill>
              <a:srgbClr val="FF5C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3977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388620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FF5C6B"/>
                </a:solidFill>
                <a:latin typeface="Calibri"/>
              </a:rPr>
              <a:t>Plan for Normalisation and Better Data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423367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50">
                <a:solidFill>
                  <a:srgbClr val="B8CCDD"/>
                </a:solidFill>
                <a:latin typeface="Calibri Light"/>
              </a:rPr>
              <a:t>2021 returned close to pre-COVID volume levels. The next improvement should add official customer groups and contract discounts to replace proxy estimates.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636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/>
              <a:t>Notebook-aligned note: customer groups shown in the updated analysis are proxy groups based on 2019 annual volume quartiles.</a:t>
            </a:r>
            <a:endParaRPr lang="en-US" sz="10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3962</TotalTime>
  <Words>632</Words>
  <Application>Microsoft Office PowerPoint</Application>
  <PresentationFormat>On-screen Show (16:9)</PresentationFormat>
  <Paragraphs>151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COVID-19 on ABC Company's Parcel Delivery Business</dc:title>
  <dc:subject>PptxGenJS Presentation</dc:subject>
  <dc:creator>PptxGenJS</dc:creator>
  <cp:lastModifiedBy>Dabhi, Arpan Pragneshbhai</cp:lastModifiedBy>
  <cp:revision>2</cp:revision>
  <dcterms:created xsi:type="dcterms:W3CDTF">2026-04-19T00:48:58Z</dcterms:created>
  <dcterms:modified xsi:type="dcterms:W3CDTF">2026-04-21T18:57:09Z</dcterms:modified>
</cp:coreProperties>
</file>