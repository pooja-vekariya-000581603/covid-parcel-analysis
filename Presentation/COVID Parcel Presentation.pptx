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D4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3F8-4B34-9570-B4BEB8C36CD1}"/>
              </c:ext>
            </c:extLst>
          </c:dPt>
          <c:dPt>
            <c:idx val="1"/>
            <c:bubble3D val="0"/>
            <c:spPr>
              <a:solidFill>
                <a:srgbClr val="FF5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3F8-4B34-9570-B4BEB8C36CD1}"/>
              </c:ext>
            </c:extLst>
          </c:dPt>
          <c:dPt>
            <c:idx val="2"/>
            <c:bubble3D val="0"/>
            <c:spPr>
              <a:solidFill>
                <a:srgbClr val="FFB74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3F8-4B34-9570-B4BEB8C36CD1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3F8-4B34-9570-B4BEB8C36CD1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3F8-4B34-9570-B4BEB8C36CD1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3F8-4B34-9570-B4BEB8C36CD1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High Growth</c:v>
                </c:pt>
                <c:pt idx="1">
                  <c:v>Stable</c:v>
                </c:pt>
                <c:pt idx="2">
                  <c:v>Declining</c:v>
                </c:pt>
                <c:pt idx="3">
                  <c:v>Lost Customer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588</c:v>
                </c:pt>
                <c:pt idx="1">
                  <c:v>77</c:v>
                </c:pt>
                <c:pt idx="2">
                  <c:v>370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3F8-4B34-9570-B4BEB8C36C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Volume</c:v>
                </c:pt>
              </c:strCache>
            </c:strRef>
          </c:tx>
          <c:spPr>
            <a:solidFill>
              <a:srgbClr val="009B8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909-4D1A-9BF7-984ED18F430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909-4D1A-9BF7-984ED18F4308}"/>
              </c:ext>
            </c:extLst>
          </c:dPt>
          <c:dPt>
            <c:idx val="2"/>
            <c:invertIfNegative val="0"/>
            <c:bubble3D val="0"/>
            <c:spPr>
              <a:solidFill>
                <a:srgbClr val="00C9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909-4D1A-9BF7-984ED18F430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909-4D1A-9BF7-984ED18F430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A162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49099478</c:v>
                </c:pt>
                <c:pt idx="1">
                  <c:v>52823114</c:v>
                </c:pt>
                <c:pt idx="2">
                  <c:v>73475690</c:v>
                </c:pt>
                <c:pt idx="3">
                  <c:v>48679668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909-4D1A-9BF7-984ED18F43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C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C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ln w="25400" cap="flat">
              <a:solidFill>
                <a:srgbClr val="B8CCD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CCDD"/>
              </a:solidFill>
              <a:ln w="9525" cap="flat">
                <a:solidFill>
                  <a:srgbClr val="B8CCDD"/>
                </a:solidFill>
                <a:prstDash val="solid"/>
                <a:round/>
              </a:ln>
              <a:effectLst/>
            </c:spPr>
          </c:marker>
          <c:cat>
            <c:strRef>
              <c:f>Sheet1!$A$2:$A$54</c:f>
              <c:strCache>
                <c:ptCount val="5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</c:strCache>
            </c:strRef>
          </c:cat>
          <c:val>
            <c:numRef>
              <c:f>Sheet1!$B$2:$B$54</c:f>
              <c:numCache>
                <c:formatCode>General</c:formatCode>
                <c:ptCount val="53"/>
                <c:pt idx="0">
                  <c:v>814361</c:v>
                </c:pt>
                <c:pt idx="1">
                  <c:v>1048800</c:v>
                </c:pt>
                <c:pt idx="2">
                  <c:v>1073634</c:v>
                </c:pt>
                <c:pt idx="3">
                  <c:v>937502</c:v>
                </c:pt>
                <c:pt idx="4">
                  <c:v>870849</c:v>
                </c:pt>
                <c:pt idx="5">
                  <c:v>788670</c:v>
                </c:pt>
                <c:pt idx="6">
                  <c:v>938386</c:v>
                </c:pt>
                <c:pt idx="7">
                  <c:v>764078</c:v>
                </c:pt>
                <c:pt idx="8">
                  <c:v>803745</c:v>
                </c:pt>
                <c:pt idx="9">
                  <c:v>792805</c:v>
                </c:pt>
                <c:pt idx="10">
                  <c:v>879574</c:v>
                </c:pt>
                <c:pt idx="11">
                  <c:v>864583</c:v>
                </c:pt>
                <c:pt idx="12">
                  <c:v>853762</c:v>
                </c:pt>
                <c:pt idx="13">
                  <c:v>817979</c:v>
                </c:pt>
                <c:pt idx="14">
                  <c:v>874088</c:v>
                </c:pt>
                <c:pt idx="15">
                  <c:v>879169</c:v>
                </c:pt>
                <c:pt idx="16">
                  <c:v>912863</c:v>
                </c:pt>
                <c:pt idx="17">
                  <c:v>1059240</c:v>
                </c:pt>
                <c:pt idx="18">
                  <c:v>1102598</c:v>
                </c:pt>
                <c:pt idx="19">
                  <c:v>951212</c:v>
                </c:pt>
                <c:pt idx="20">
                  <c:v>874423</c:v>
                </c:pt>
                <c:pt idx="21">
                  <c:v>881149</c:v>
                </c:pt>
                <c:pt idx="22">
                  <c:v>883913</c:v>
                </c:pt>
                <c:pt idx="23">
                  <c:v>958393</c:v>
                </c:pt>
                <c:pt idx="24">
                  <c:v>913925</c:v>
                </c:pt>
                <c:pt idx="25">
                  <c:v>860909</c:v>
                </c:pt>
                <c:pt idx="26">
                  <c:v>813454</c:v>
                </c:pt>
                <c:pt idx="27">
                  <c:v>980602</c:v>
                </c:pt>
                <c:pt idx="28">
                  <c:v>935925</c:v>
                </c:pt>
                <c:pt idx="29">
                  <c:v>883204</c:v>
                </c:pt>
                <c:pt idx="30">
                  <c:v>886248</c:v>
                </c:pt>
                <c:pt idx="31">
                  <c:v>815116</c:v>
                </c:pt>
                <c:pt idx="32">
                  <c:v>847028</c:v>
                </c:pt>
                <c:pt idx="33">
                  <c:v>977478</c:v>
                </c:pt>
                <c:pt idx="34">
                  <c:v>965679</c:v>
                </c:pt>
                <c:pt idx="35">
                  <c:v>856524</c:v>
                </c:pt>
                <c:pt idx="36">
                  <c:v>917470</c:v>
                </c:pt>
                <c:pt idx="37">
                  <c:v>962901</c:v>
                </c:pt>
                <c:pt idx="38">
                  <c:v>957015</c:v>
                </c:pt>
                <c:pt idx="39">
                  <c:v>889764</c:v>
                </c:pt>
                <c:pt idx="40">
                  <c:v>926572</c:v>
                </c:pt>
                <c:pt idx="41">
                  <c:v>1012358</c:v>
                </c:pt>
                <c:pt idx="42">
                  <c:v>1026545</c:v>
                </c:pt>
                <c:pt idx="43">
                  <c:v>1037382</c:v>
                </c:pt>
                <c:pt idx="44">
                  <c:v>1238944</c:v>
                </c:pt>
                <c:pt idx="45">
                  <c:v>1296707</c:v>
                </c:pt>
                <c:pt idx="46">
                  <c:v>1331492</c:v>
                </c:pt>
                <c:pt idx="47">
                  <c:v>1790660</c:v>
                </c:pt>
                <c:pt idx="48">
                  <c:v>2506405</c:v>
                </c:pt>
                <c:pt idx="49">
                  <c:v>1736772</c:v>
                </c:pt>
                <c:pt idx="50">
                  <c:v>1321183</c:v>
                </c:pt>
                <c:pt idx="51">
                  <c:v>916585</c:v>
                </c:pt>
                <c:pt idx="52">
                  <c:v>592491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B59-415C-823C-F5FA70534A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</c:v>
                </c:pt>
              </c:strCache>
            </c:strRef>
          </c:tx>
          <c:spPr>
            <a:ln w="25400" cap="flat">
              <a:solidFill>
                <a:srgbClr val="00C9B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C9B1"/>
              </a:solidFill>
              <a:ln w="9525" cap="flat">
                <a:solidFill>
                  <a:srgbClr val="00C9B1"/>
                </a:solidFill>
                <a:prstDash val="solid"/>
                <a:round/>
              </a:ln>
              <a:effectLst/>
            </c:spPr>
          </c:marker>
          <c:cat>
            <c:strRef>
              <c:f>Sheet1!$A$2:$A$54</c:f>
              <c:strCache>
                <c:ptCount val="5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</c:strCache>
            </c:strRef>
          </c:cat>
          <c:val>
            <c:numRef>
              <c:f>Sheet1!$C$2:$C$54</c:f>
              <c:numCache>
                <c:formatCode>General</c:formatCode>
                <c:ptCount val="53"/>
                <c:pt idx="0">
                  <c:v>554951</c:v>
                </c:pt>
                <c:pt idx="1">
                  <c:v>1078417</c:v>
                </c:pt>
                <c:pt idx="2">
                  <c:v>1008084</c:v>
                </c:pt>
                <c:pt idx="3">
                  <c:v>934713</c:v>
                </c:pt>
                <c:pt idx="4">
                  <c:v>938521</c:v>
                </c:pt>
                <c:pt idx="5">
                  <c:v>873763</c:v>
                </c:pt>
                <c:pt idx="6">
                  <c:v>786626</c:v>
                </c:pt>
                <c:pt idx="7">
                  <c:v>882633</c:v>
                </c:pt>
                <c:pt idx="8">
                  <c:v>903362</c:v>
                </c:pt>
                <c:pt idx="9">
                  <c:v>891398</c:v>
                </c:pt>
                <c:pt idx="10">
                  <c:v>887335</c:v>
                </c:pt>
                <c:pt idx="11">
                  <c:v>967436</c:v>
                </c:pt>
                <c:pt idx="12">
                  <c:v>1084829</c:v>
                </c:pt>
                <c:pt idx="13">
                  <c:v>1346802</c:v>
                </c:pt>
                <c:pt idx="14">
                  <c:v>1480147</c:v>
                </c:pt>
                <c:pt idx="15">
                  <c:v>2003866</c:v>
                </c:pt>
                <c:pt idx="16">
                  <c:v>1914740</c:v>
                </c:pt>
                <c:pt idx="17">
                  <c:v>1964582</c:v>
                </c:pt>
                <c:pt idx="18">
                  <c:v>2016316</c:v>
                </c:pt>
                <c:pt idx="19">
                  <c:v>2048931</c:v>
                </c:pt>
                <c:pt idx="20">
                  <c:v>1842820</c:v>
                </c:pt>
                <c:pt idx="21">
                  <c:v>1749399</c:v>
                </c:pt>
                <c:pt idx="22">
                  <c:v>1672111</c:v>
                </c:pt>
                <c:pt idx="23">
                  <c:v>1598331</c:v>
                </c:pt>
                <c:pt idx="24">
                  <c:v>1454647</c:v>
                </c:pt>
                <c:pt idx="25">
                  <c:v>1426303</c:v>
                </c:pt>
                <c:pt idx="26">
                  <c:v>1306604</c:v>
                </c:pt>
                <c:pt idx="27">
                  <c:v>1371776</c:v>
                </c:pt>
                <c:pt idx="28">
                  <c:v>1269835</c:v>
                </c:pt>
                <c:pt idx="29">
                  <c:v>1319267</c:v>
                </c:pt>
                <c:pt idx="30">
                  <c:v>1205036</c:v>
                </c:pt>
                <c:pt idx="31">
                  <c:v>1250590</c:v>
                </c:pt>
                <c:pt idx="32">
                  <c:v>1228359</c:v>
                </c:pt>
                <c:pt idx="33">
                  <c:v>1286856</c:v>
                </c:pt>
                <c:pt idx="34">
                  <c:v>1240796</c:v>
                </c:pt>
                <c:pt idx="35">
                  <c:v>1273737</c:v>
                </c:pt>
                <c:pt idx="36">
                  <c:v>1135972</c:v>
                </c:pt>
                <c:pt idx="37">
                  <c:v>1285061</c:v>
                </c:pt>
                <c:pt idx="38">
                  <c:v>1214387</c:v>
                </c:pt>
                <c:pt idx="39">
                  <c:v>1108258</c:v>
                </c:pt>
                <c:pt idx="40">
                  <c:v>1275676</c:v>
                </c:pt>
                <c:pt idx="41">
                  <c:v>1240437</c:v>
                </c:pt>
                <c:pt idx="42">
                  <c:v>1379348</c:v>
                </c:pt>
                <c:pt idx="43">
                  <c:v>1370162</c:v>
                </c:pt>
                <c:pt idx="44">
                  <c:v>1451789</c:v>
                </c:pt>
                <c:pt idx="45">
                  <c:v>1600614</c:v>
                </c:pt>
                <c:pt idx="46">
                  <c:v>1792533</c:v>
                </c:pt>
                <c:pt idx="47">
                  <c:v>2302321</c:v>
                </c:pt>
                <c:pt idx="48">
                  <c:v>2952342</c:v>
                </c:pt>
                <c:pt idx="49">
                  <c:v>2104379</c:v>
                </c:pt>
                <c:pt idx="50">
                  <c:v>1714827</c:v>
                </c:pt>
                <c:pt idx="51">
                  <c:v>1063727</c:v>
                </c:pt>
                <c:pt idx="52">
                  <c:v>1419938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B59-415C-823C-F5FA70534A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  <c:min val="1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C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A30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C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D20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6630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5029200" cy="5029200"/>
          </a:xfrm>
          <a:prstGeom prst="ellipse">
            <a:avLst/>
          </a:prstGeom>
          <a:solidFill>
            <a:srgbClr val="00C9B1">
              <a:alpha val="12000"/>
            </a:srgbClr>
          </a:solidFill>
          <a:ln w="6350">
            <a:solidFill>
              <a:srgbClr val="00C9B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371600" y="2926080"/>
            <a:ext cx="3657600" cy="3657600"/>
          </a:xfrm>
          <a:prstGeom prst="ellipse">
            <a:avLst/>
          </a:prstGeom>
          <a:solidFill>
            <a:srgbClr val="00C9B1">
              <a:alpha val="8000"/>
            </a:srgbClr>
          </a:solidFill>
          <a:ln w="6350">
            <a:solidFill>
              <a:srgbClr val="00C9B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73152" cy="256032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2194560" cy="347472"/>
          </a:xfrm>
          <a:prstGeom prst="roundRect">
            <a:avLst>
              <a:gd name="adj" fmla="val 13158"/>
            </a:avLst>
          </a:prstGeom>
          <a:solidFill>
            <a:srgbClr val="00C9B1">
              <a:alpha val="20000"/>
            </a:srgbClr>
          </a:solidFill>
          <a:ln w="635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B1"/>
                </a:solidFill>
              </a:rPr>
              <a:t>GROUP ASSIGNMENT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of COVID-19 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" y="237744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1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Company's Parcel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29718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Business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94360" y="3749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Data-Driven Analysis | 2018–2021 | Python &amp; Pandas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0C9B1">
              <a:alpha val="8000"/>
            </a:srgbClr>
          </a:solidFill>
          <a:ln w="381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190,719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8346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2018–2021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4088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ISGR</a:t>
            </a:r>
            <a:endParaRPr 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BED36B-EAC0-DED8-4BE8-2100FC9DCAAF}"/>
              </a:ext>
            </a:extLst>
          </p:cNvPr>
          <p:cNvSpPr txBox="1"/>
          <p:nvPr/>
        </p:nvSpPr>
        <p:spPr>
          <a:xfrm>
            <a:off x="7155855" y="1573856"/>
            <a:ext cx="209397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Group Members</a:t>
            </a:r>
          </a:p>
          <a:p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Member 1:-  Pooja Vekariya</a:t>
            </a:r>
          </a:p>
          <a:p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Member 2:-  Arpan Dabhi</a:t>
            </a:r>
          </a:p>
          <a:p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Member 3:- 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Jinil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Patel</a:t>
            </a:r>
          </a:p>
          <a:p>
            <a:endParaRPr lang="en-IN" sz="1200" dirty="0">
              <a:solidFill>
                <a:schemeClr val="bg1">
                  <a:lumMod val="95000"/>
                </a:schemeClr>
              </a:solidFill>
            </a:endParaRPr>
          </a:p>
          <a:p>
            <a:endParaRPr lang="en-IN" sz="1200" dirty="0">
              <a:solidFill>
                <a:schemeClr val="bg1">
                  <a:lumMod val="95000"/>
                </a:schemeClr>
              </a:solidFill>
            </a:endParaRPr>
          </a:p>
          <a:p>
            <a:endParaRPr lang="en-IN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19FD32-22BA-D7A0-BDBC-BF78047439A9}"/>
              </a:ext>
            </a:extLst>
          </p:cNvPr>
          <p:cNvSpPr txBox="1"/>
          <p:nvPr/>
        </p:nvSpPr>
        <p:spPr>
          <a:xfrm>
            <a:off x="594360" y="561570"/>
            <a:ext cx="5850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PROGRAMMING FOR DATA SCIENCE :-  COMP-603-T06</a:t>
            </a:r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Analyzing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265176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633472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50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190,719 weekly parcel records across 2018–2021 for ABC Company's customer base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154680" y="1508760"/>
            <a:ext cx="2651760" cy="54864"/>
          </a:xfrm>
          <a:prstGeom prst="rect">
            <a:avLst/>
          </a:prstGeom>
          <a:solidFill>
            <a:srgbClr val="FFB740"/>
          </a:solidFill>
          <a:ln w="1270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15468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9184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2633472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3A5070"/>
                </a:solidFill>
                <a:latin typeface="Calibri Light"/>
              </a:rPr>
              <a:t>Calculate the ISGR, identify the COVID onset week, and classify customers during the COVID observation period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989320" y="1508760"/>
            <a:ext cx="2651760" cy="54864"/>
          </a:xfrm>
          <a:prstGeom prst="rect">
            <a:avLst/>
          </a:prstGeom>
          <a:solidFill>
            <a:srgbClr val="FF5C6B"/>
          </a:solidFill>
          <a:ln w="1270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98932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2633472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3A5070"/>
                </a:solidFill>
                <a:latin typeface="Calibri Light"/>
              </a:rPr>
              <a:t>Understand COVID-19's impact, compare peak seasons, and estimate customer-group performance transparently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Notebook note: official customer groups and discount tiers were not provided, so proxy groups and gross revenue estimates were used.</a:t>
            </a:r>
            <a:endParaRPr lang="en-US" sz="1000" dirty="0"/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457200"/>
            <a:ext cx="5486400" cy="5486400"/>
          </a:xfrm>
          <a:prstGeom prst="ellipse">
            <a:avLst/>
          </a:prstGeom>
          <a:solidFill>
            <a:srgbClr val="00C9B1">
              <a:alpha val="7000"/>
            </a:srgbClr>
          </a:solidFill>
          <a:ln w="3810">
            <a:solidFill>
              <a:srgbClr val="00C9B1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INDUSTRY STANDARD GROWTH RATE (ISGR)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Was the Industry Growing?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Weeks 1–15, 2020 vs. Weeks 1–15, 2019 (Pre-COVID Baseline)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2697480" cy="1737360"/>
          </a:xfrm>
          <a:prstGeom prst="rect">
            <a:avLst/>
          </a:prstGeom>
          <a:solidFill>
            <a:srgbClr val="0D2040"/>
          </a:solidFill>
          <a:ln w="19050">
            <a:solidFill>
              <a:srgbClr val="6B8CAE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13,122,816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(Wk 1–15, 2019)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 Period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828800"/>
            <a:ext cx="2697480" cy="1737360"/>
          </a:xfrm>
          <a:prstGeom prst="rect">
            <a:avLst/>
          </a:prstGeom>
          <a:solidFill>
            <a:srgbClr val="0D2040"/>
          </a:solidFill>
          <a:ln w="1905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33756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14,619,017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37560" y="26517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(Wk 1–15, 2020)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3756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B8CCDD"/>
                </a:solidFill>
                <a:latin typeface="Calibri Light"/>
              </a:rPr>
              <a:t>Current Period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828800"/>
            <a:ext cx="2697480" cy="1737360"/>
          </a:xfrm>
          <a:prstGeom prst="rect">
            <a:avLst/>
          </a:prstGeom>
          <a:solidFill>
            <a:srgbClr val="0D2040"/>
          </a:solidFill>
          <a:ln w="19050">
            <a:solidFill>
              <a:srgbClr val="FFB740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21792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11.40%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217920" y="26517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ISGR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Industry Growth Rate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8412480" cy="594360"/>
          </a:xfrm>
          <a:prstGeom prst="rect">
            <a:avLst/>
          </a:prstGeom>
          <a:solidFill>
            <a:srgbClr val="0D2040"/>
          </a:solidFill>
          <a:ln w="635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02920" y="38221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050">
                <a:solidFill>
                  <a:srgbClr val="00C9B1"/>
                </a:solidFill>
                <a:latin typeface="Consolas"/>
              </a:rPr>
              <a:t>ISGR Formula:   ISGR = ( Vol_2020 − Vol_2019 ) ÷ Vol_2019 × 100   =   ( 14,619,017 − 13,122,816 ) ÷ 13,122,816 × 100   =   11.40%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50">
                <a:solidFill>
                  <a:srgbClr val="B8CCDD"/>
                </a:solidFill>
                <a:latin typeface="Calibri Light"/>
              </a:rPr>
              <a:t>✅  The ISGR of 11.40% is the benchmark used to classify customer performance in the COVID observation period.</a:t>
            </a:r>
            <a:endParaRPr lang="en-US" sz="1050" dirty="0"/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CUSTOMER CATEGORIZATION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600" b="1">
                <a:solidFill>
                  <a:srgbClr val="0A1628"/>
                </a:solidFill>
                <a:latin typeface="Calibri"/>
              </a:rPr>
              <a:t>Observed Customer Outcomes in the COVID Window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64008" cy="749808"/>
          </a:xfrm>
          <a:prstGeom prst="rect">
            <a:avLst/>
          </a:prstGeom>
          <a:solidFill>
            <a:srgbClr val="5C7CFA"/>
          </a:solidFill>
          <a:ln w="12700">
            <a:solidFill>
              <a:srgbClr val="5C7C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0A1628"/>
                </a:solidFill>
                <a:latin typeface="Calibri"/>
              </a:rPr>
              <a:t>🔒 Lost Customer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6B8CAE"/>
                </a:solidFill>
                <a:latin typeface="Consolas"/>
              </a:rPr>
              <a:t>Vol_2019 (Wk 12–53) &gt; 0  &amp;  Vol_2020 (Wk 12–53) =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0" y="1536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000" b="1">
                <a:solidFill>
                  <a:srgbClr val="5C7CFA"/>
                </a:solidFill>
                <a:latin typeface="Calibri"/>
              </a:rPr>
              <a:t>25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0" y="1901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909560" y="1627632"/>
            <a:ext cx="713232" cy="420624"/>
          </a:xfrm>
          <a:prstGeom prst="roundRect">
            <a:avLst>
              <a:gd name="adj" fmla="val 10870"/>
            </a:avLst>
          </a:prstGeom>
          <a:solidFill>
            <a:srgbClr val="5C7CFA">
              <a:alpha val="15000"/>
            </a:srgbClr>
          </a:solidFill>
          <a:ln w="6350">
            <a:solidFill>
              <a:srgbClr val="5C7C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909560" y="164592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5C7CFA"/>
                </a:solidFill>
                <a:latin typeface="Calibri"/>
              </a:rPr>
              <a:t>2.4%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331720"/>
            <a:ext cx="84124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64008" cy="749808"/>
          </a:xfrm>
          <a:prstGeom prst="rect">
            <a:avLst/>
          </a:prstGeom>
          <a:solidFill>
            <a:srgbClr val="2DD4A0"/>
          </a:solidFill>
          <a:ln w="12700">
            <a:solidFill>
              <a:srgbClr val="2DD4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2441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High Growth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7340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Rate &gt; 11.40% (ISGR)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24048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000" b="1">
                <a:solidFill>
                  <a:srgbClr val="2DD4A0"/>
                </a:solidFill>
                <a:latin typeface="Calibri"/>
              </a:rPr>
              <a:t>588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0" y="2770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909560" y="2496312"/>
            <a:ext cx="713232" cy="420624"/>
          </a:xfrm>
          <a:prstGeom prst="roundRect">
            <a:avLst>
              <a:gd name="adj" fmla="val 10870"/>
            </a:avLst>
          </a:prstGeom>
          <a:solidFill>
            <a:srgbClr val="2DD4A0">
              <a:alpha val="15000"/>
            </a:srgbClr>
          </a:solidFill>
          <a:ln w="6350">
            <a:solidFill>
              <a:srgbClr val="2DD4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909560" y="251460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2DD4A0"/>
                </a:solidFill>
                <a:latin typeface="Calibri"/>
              </a:rPr>
              <a:t>55.5%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200400"/>
            <a:ext cx="84124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65760" y="3200400"/>
            <a:ext cx="64008" cy="749808"/>
          </a:xfrm>
          <a:prstGeom prst="rect">
            <a:avLst/>
          </a:prstGeom>
          <a:solidFill>
            <a:srgbClr val="FFB740"/>
          </a:solidFill>
          <a:ln w="1270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48640" y="33101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0A1628"/>
                </a:solidFill>
                <a:latin typeface="Calibri"/>
              </a:rPr>
              <a:t>📈 Stable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6027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6B8CAE"/>
                </a:solidFill>
                <a:latin typeface="Consolas"/>
              </a:rPr>
              <a:t>0% ≤ Growth Rate ≤ 11.40%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2735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B740"/>
                </a:solidFill>
                <a:latin typeface="Calibri"/>
              </a:rPr>
              <a:t>77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858000" y="36393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909560" y="3364992"/>
            <a:ext cx="713232" cy="420624"/>
          </a:xfrm>
          <a:prstGeom prst="roundRect">
            <a:avLst>
              <a:gd name="adj" fmla="val 10870"/>
            </a:avLst>
          </a:prstGeom>
          <a:solidFill>
            <a:srgbClr val="FFB740">
              <a:alpha val="15000"/>
            </a:srgbClr>
          </a:solidFill>
          <a:ln w="635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909560" y="338328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B740"/>
                </a:solidFill>
                <a:latin typeface="Calibri"/>
              </a:rPr>
              <a:t>7.3%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069080"/>
            <a:ext cx="84124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65760" y="4069080"/>
            <a:ext cx="64008" cy="749808"/>
          </a:xfrm>
          <a:prstGeom prst="rect">
            <a:avLst/>
          </a:prstGeom>
          <a:solidFill>
            <a:srgbClr val="FF5C6B"/>
          </a:solidFill>
          <a:ln w="1270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48640" y="4178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Declining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Rate &lt; 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4142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5C6B"/>
                </a:solidFill>
                <a:latin typeface="Calibri"/>
              </a:rPr>
              <a:t>370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858000" y="45079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909560" y="4233672"/>
            <a:ext cx="713232" cy="420624"/>
          </a:xfrm>
          <a:prstGeom prst="roundRect">
            <a:avLst>
              <a:gd name="adj" fmla="val 10870"/>
            </a:avLst>
          </a:prstGeom>
          <a:solidFill>
            <a:srgbClr val="FF5C6B">
              <a:alpha val="15000"/>
            </a:srgbClr>
          </a:solidFill>
          <a:ln w="635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7909560" y="425196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5C6B"/>
                </a:solidFill>
                <a:latin typeface="Calibri"/>
              </a:rPr>
              <a:t>34.9%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1 — CUSTOMER DISTRIBUTION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alibri"/>
              </a:rPr>
              <a:t>Who Grew, Stayed Stable, or Were Lost?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100">
                <a:solidFill>
                  <a:srgbClr val="B8CCDD"/>
                </a:solidFill>
                <a:latin typeface="Calibri Light"/>
              </a:rPr>
              <a:t>COVID observation period: Weeks 12–53, 2019 vs 2020 (n = 1,060 customers)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1691640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920240"/>
            <a:ext cx="3017520" cy="914400"/>
          </a:xfrm>
          <a:prstGeom prst="rect">
            <a:avLst/>
          </a:prstGeom>
          <a:solidFill>
            <a:srgbClr val="0D2040"/>
          </a:solidFill>
          <a:ln w="15240">
            <a:solidFill>
              <a:srgbClr val="2DD4A0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5760720" y="1920240"/>
            <a:ext cx="54864" cy="914400"/>
          </a:xfrm>
          <a:prstGeom prst="rect">
            <a:avLst/>
          </a:prstGeom>
          <a:solidFill>
            <a:srgbClr val="2DD4A0"/>
          </a:solidFill>
          <a:ln w="12700">
            <a:solidFill>
              <a:srgbClr val="2DD4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5897880" y="2011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2DD4A0"/>
                </a:solidFill>
                <a:latin typeface="Calibri"/>
              </a:rPr>
              <a:t>55.5%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897880" y="2414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High Growth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0" y="20299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100">
                <a:solidFill>
                  <a:srgbClr val="B8CCDD"/>
                </a:solidFill>
                <a:latin typeface="Calibri Light"/>
              </a:rPr>
              <a:t>588 customers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760720" y="3017520"/>
            <a:ext cx="3017520" cy="914400"/>
          </a:xfrm>
          <a:prstGeom prst="rect">
            <a:avLst/>
          </a:prstGeom>
          <a:solidFill>
            <a:srgbClr val="0D2040"/>
          </a:solidFill>
          <a:ln w="15240">
            <a:solidFill>
              <a:srgbClr val="FF5C6B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5760720" y="3017520"/>
            <a:ext cx="54864" cy="914400"/>
          </a:xfrm>
          <a:prstGeom prst="rect">
            <a:avLst/>
          </a:prstGeom>
          <a:solidFill>
            <a:srgbClr val="FF5C6B"/>
          </a:solidFill>
          <a:ln w="1270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5897880" y="3108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5C6B"/>
                </a:solidFill>
                <a:latin typeface="Calibri"/>
              </a:rPr>
              <a:t>34.9%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897880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Declining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0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100">
                <a:solidFill>
                  <a:srgbClr val="B8CCDD"/>
                </a:solidFill>
                <a:latin typeface="Calibri Light"/>
              </a:rPr>
              <a:t>370 customers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760720" y="4114800"/>
            <a:ext cx="3017520" cy="914400"/>
          </a:xfrm>
          <a:prstGeom prst="rect">
            <a:avLst/>
          </a:prstGeom>
          <a:solidFill>
            <a:srgbClr val="0D2040"/>
          </a:solidFill>
          <a:ln w="15240">
            <a:solidFill>
              <a:srgbClr val="FFB740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5760720" y="4114800"/>
            <a:ext cx="54864" cy="914400"/>
          </a:xfrm>
          <a:prstGeom prst="rect">
            <a:avLst/>
          </a:prstGeom>
          <a:solidFill>
            <a:srgbClr val="FFB740"/>
          </a:solidFill>
          <a:ln w="1270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5897880" y="4206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B740"/>
                </a:solidFill>
                <a:latin typeface="Calibri"/>
              </a:rPr>
              <a:t>7.3%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5897880" y="46085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Stable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315200" y="4224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100">
                <a:solidFill>
                  <a:srgbClr val="B8CCDD"/>
                </a:solidFill>
                <a:latin typeface="Calibri Light"/>
              </a:rPr>
              <a:t>77 customers</a:t>
            </a:r>
            <a:endParaRPr lang="en-US" sz="1100" dirty="0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2 — TOTAL VOLUME BY YEAR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 Volumes Peaked in 2020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100">
                <a:solidFill>
                  <a:srgbClr val="6B8CAE"/>
                </a:solidFill>
                <a:latin typeface="Calibri Light"/>
              </a:rPr>
              <a:t>Annual volumes peaked in 2020, then normalised in 2021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1691640"/>
          <a:ext cx="57607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2606040" cy="3291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309360" y="1737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Year-on-Year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2148840"/>
            <a:ext cx="2377440" cy="594360"/>
          </a:xfrm>
          <a:prstGeom prst="rect">
            <a:avLst/>
          </a:prstGeom>
          <a:solidFill>
            <a:srgbClr val="0D2040"/>
          </a:solidFill>
          <a:ln w="6350">
            <a:solidFill>
              <a:srgbClr val="B8CC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6446520" y="22128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B8CCDD"/>
                </a:solidFill>
                <a:latin typeface="Calibri"/>
              </a:rPr>
              <a:t>2018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46520" y="2468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B8CCDD"/>
                </a:solidFill>
                <a:latin typeface="Calibri Light"/>
              </a:rPr>
              <a:t>~49.1M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498080" y="2304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B8CCDD"/>
                </a:solidFill>
                <a:latin typeface="Calibri"/>
              </a:rPr>
              <a:t>Baseline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355080" y="2852928"/>
            <a:ext cx="2377440" cy="594360"/>
          </a:xfrm>
          <a:prstGeom prst="rect">
            <a:avLst/>
          </a:prstGeom>
          <a:solidFill>
            <a:srgbClr val="0D2040"/>
          </a:solidFill>
          <a:ln w="6350">
            <a:solidFill>
              <a:srgbClr val="B8CC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446520" y="2916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B8CCDD"/>
                </a:solidFill>
                <a:latin typeface="Calibri"/>
              </a:rPr>
              <a:t>2019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31729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B8CCDD"/>
                </a:solidFill>
                <a:latin typeface="Calibri Light"/>
              </a:rPr>
              <a:t>~52.8M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498080" y="3008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B8CCDD"/>
                </a:solidFill>
                <a:latin typeface="Calibri"/>
              </a:rPr>
              <a:t>+7.6% YoY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355080" y="3557016"/>
            <a:ext cx="2377440" cy="594360"/>
          </a:xfrm>
          <a:prstGeom prst="rect">
            <a:avLst/>
          </a:prstGeom>
          <a:solidFill>
            <a:srgbClr val="0D2040"/>
          </a:solidFill>
          <a:ln w="635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6446520" y="3621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00C9B1"/>
                </a:solidFill>
                <a:latin typeface="Calibri"/>
              </a:rPr>
              <a:t>2020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46520" y="387705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B8CCDD"/>
                </a:solidFill>
                <a:latin typeface="Calibri Light"/>
              </a:rPr>
              <a:t>~73.5M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498080" y="37124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00C9B1"/>
                </a:solidFill>
                <a:latin typeface="Calibri"/>
              </a:rPr>
              <a:t>+39.1% YoY 🚀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355080" y="4261104"/>
            <a:ext cx="2377440" cy="594360"/>
          </a:xfrm>
          <a:prstGeom prst="rect">
            <a:avLst/>
          </a:prstGeom>
          <a:solidFill>
            <a:srgbClr val="0D2040"/>
          </a:solidFill>
          <a:ln w="635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6446520" y="43251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FF5C6B"/>
                </a:solidFill>
                <a:latin typeface="Calibri"/>
              </a:rPr>
              <a:t>2021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46520" y="4581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B8CCDD"/>
                </a:solidFill>
                <a:latin typeface="Calibri Light"/>
              </a:rPr>
              <a:t>~48.7M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0" y="44165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FF5C6B"/>
                </a:solidFill>
                <a:latin typeface="Calibri"/>
              </a:rPr>
              <a:t>-33.7% YoY</a:t>
            </a:r>
            <a:endParaRPr lang="en-US" sz="1000" dirty="0"/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3 — WEEKLY PARCEL VOLUME TREND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vs 2020: Week-by-Week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280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100">
                <a:solidFill>
                  <a:srgbClr val="B8CCDD"/>
                </a:solidFill>
                <a:latin typeface="Calibri Light"/>
              </a:rPr>
              <a:t>Impact becomes visible around Week 12, with much stronger acceleration from Weeks 13–16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1691640"/>
          <a:ext cx="8595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BUSINESS INSIGHTS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Tells Us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4114800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54864" cy="160020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16184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61848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0A1628"/>
                </a:solidFill>
                <a:latin typeface="Calibri"/>
              </a:rPr>
              <a:t>COVID impact became visible around Week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3A5070"/>
                </a:solidFill>
                <a:latin typeface="Calibri Light"/>
              </a:rPr>
              <a:t>Weekly volume stayed close to 2019 through Week 11, then rose above the ISGR threshold from Week 12 and accelerated sharply in Weeks 13–16.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508760"/>
            <a:ext cx="4114800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709160" y="1508760"/>
            <a:ext cx="54864" cy="1600200"/>
          </a:xfrm>
          <a:prstGeom prst="rect">
            <a:avLst/>
          </a:prstGeom>
          <a:solidFill>
            <a:srgbClr val="2DD4A0"/>
          </a:solidFill>
          <a:ln w="12700">
            <a:solidFill>
              <a:srgbClr val="2DD4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00600" y="16184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49240" y="161848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0A1628"/>
                </a:solidFill>
                <a:latin typeface="Calibri"/>
              </a:rPr>
              <a:t>Most customers were High Growth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3A5070"/>
                </a:solidFill>
                <a:latin typeface="Calibri Light"/>
              </a:rPr>
              <a:t>55.5% of comparable customers (588) outperformed the ISGR during the COVID observation period.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337560"/>
            <a:ext cx="4114800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320040" y="3337560"/>
            <a:ext cx="54864" cy="1600200"/>
          </a:xfrm>
          <a:prstGeom prst="rect">
            <a:avLst/>
          </a:prstGeom>
          <a:solidFill>
            <a:srgbClr val="FFB740"/>
          </a:solidFill>
          <a:ln w="1270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11480" y="34472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0120" y="344728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0A1628"/>
                </a:solidFill>
                <a:latin typeface="Calibri"/>
              </a:rPr>
              <a:t>Declining and lost customers still matter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3A5070"/>
                </a:solidFill>
                <a:latin typeface="Calibri Light"/>
              </a:rPr>
              <a:t>34.9% declined and 2.4% were lost, which suggests that some client segments were negatively affected even as total volume grew.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3337560"/>
            <a:ext cx="4114800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AF3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709160" y="3337560"/>
            <a:ext cx="54864" cy="1600200"/>
          </a:xfrm>
          <a:prstGeom prst="rect">
            <a:avLst/>
          </a:prstGeom>
          <a:solidFill>
            <a:srgbClr val="FF5C6B"/>
          </a:solidFill>
          <a:ln w="1270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800600" y="34472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349240" y="344728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 b="1">
                <a:solidFill>
                  <a:srgbClr val="0A1628"/>
                </a:solidFill>
                <a:latin typeface="Calibri"/>
              </a:rPr>
              <a:t>2020 peak season outperformed 2019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3886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3A5070"/>
                </a:solidFill>
                <a:latin typeface="Calibri Light"/>
              </a:rPr>
              <a:t>Using the full-week approximation in the notebook, 2020 peak season volume was up 27.3% versus the 2019 peak season.</a:t>
            </a:r>
            <a:endParaRPr lang="en-US" sz="1050" dirty="0"/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Analysis Pipeline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40280" y="2606040"/>
            <a:ext cx="411480" cy="0"/>
          </a:xfrm>
          <a:prstGeom prst="line">
            <a:avLst/>
          </a:prstGeom>
          <a:noFill/>
          <a:ln w="19050">
            <a:solidFill>
              <a:srgbClr val="00C9B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1920240" cy="3108960"/>
          </a:xfrm>
          <a:prstGeom prst="rect">
            <a:avLst/>
          </a:prstGeom>
          <a:solidFill>
            <a:srgbClr val="0D2040"/>
          </a:solidFill>
          <a:ln w="1016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685800" cy="54864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43560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2084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 &amp; Exploration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2743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Loaded CSV into Pandas DataFrame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8CCD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190,719 rows × 4 columns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768" y="3749040"/>
            <a:ext cx="1691640" cy="329184"/>
          </a:xfrm>
          <a:prstGeom prst="rect">
            <a:avLst/>
          </a:prstGeom>
          <a:solidFill>
            <a:srgbClr val="0A1628"/>
          </a:solidFill>
          <a:ln w="6350">
            <a:solidFill>
              <a:srgbClr val="009B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29768" y="37673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9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io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2606040"/>
            <a:ext cx="411480" cy="0"/>
          </a:xfrm>
          <a:prstGeom prst="line">
            <a:avLst/>
          </a:prstGeom>
          <a:noFill/>
          <a:ln w="19050">
            <a:solidFill>
              <a:srgbClr val="00C9B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468880" y="1554480"/>
            <a:ext cx="1920240" cy="3108960"/>
          </a:xfrm>
          <a:prstGeom prst="rect">
            <a:avLst/>
          </a:prstGeom>
          <a:solidFill>
            <a:srgbClr val="0D2040"/>
          </a:solidFill>
          <a:ln w="1016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063240" y="1417320"/>
            <a:ext cx="685800" cy="54864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063240" y="143560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8608" y="2084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00C9B1"/>
                </a:solidFill>
                <a:latin typeface="Calibri"/>
              </a:rPr>
              <a:t>ISGR + Timing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78608" y="2743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B8CCDD"/>
                </a:solidFill>
                <a:latin typeface="Calibri Light"/>
              </a:rPr>
              <a:t>Calculated Weeks 1–15 ISGR and compared weekly 2019 vs 2020 totals to identify Week 12 as the COVID onset point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78608" y="3749040"/>
            <a:ext cx="1691640" cy="329184"/>
          </a:xfrm>
          <a:prstGeom prst="rect">
            <a:avLst/>
          </a:prstGeom>
          <a:solidFill>
            <a:srgbClr val="0A1628"/>
          </a:solidFill>
          <a:ln w="6350">
            <a:solidFill>
              <a:srgbClr val="009B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578608" y="37673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9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37960" y="2606040"/>
            <a:ext cx="411480" cy="0"/>
          </a:xfrm>
          <a:prstGeom prst="line">
            <a:avLst/>
          </a:prstGeom>
          <a:noFill/>
          <a:ln w="19050">
            <a:solidFill>
              <a:srgbClr val="00C9B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617720" y="1554480"/>
            <a:ext cx="1920240" cy="3108960"/>
          </a:xfrm>
          <a:prstGeom prst="rect">
            <a:avLst/>
          </a:prstGeom>
          <a:solidFill>
            <a:srgbClr val="0D2040"/>
          </a:solidFill>
          <a:ln w="1016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212080" y="1417320"/>
            <a:ext cx="685800" cy="54864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212080" y="143560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27448" y="2084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00C9B1"/>
                </a:solidFill>
                <a:latin typeface="Calibri"/>
              </a:rPr>
              <a:t>Customer Categorization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27448" y="2743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B8CCDD"/>
                </a:solidFill>
                <a:latin typeface="Calibri Light"/>
              </a:rPr>
              <a:t>Compared Weeks 12–53 in 2019 vs 2020 and labelled High Growth, Stable, Declining, and Lost Customer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27448" y="3749040"/>
            <a:ext cx="1691640" cy="329184"/>
          </a:xfrm>
          <a:prstGeom prst="rect">
            <a:avLst/>
          </a:prstGeom>
          <a:solidFill>
            <a:srgbClr val="0A1628"/>
          </a:solidFill>
          <a:ln w="6350">
            <a:solidFill>
              <a:srgbClr val="009B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27448" y="37673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9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lambda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766560" y="1554480"/>
            <a:ext cx="1920240" cy="3108960"/>
          </a:xfrm>
          <a:prstGeom prst="rect">
            <a:avLst/>
          </a:prstGeom>
          <a:solidFill>
            <a:srgbClr val="0D2040"/>
          </a:solidFill>
          <a:ln w="1016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7360920" y="1417320"/>
            <a:ext cx="685800" cy="54864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360920" y="143560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76288" y="2084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00C9B1"/>
                </a:solidFill>
                <a:latin typeface="Calibri"/>
              </a:rPr>
              <a:t>Proxy Groups &amp; Outputs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76288" y="2743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B8CCDD"/>
                </a:solidFill>
                <a:latin typeface="Calibri Light"/>
              </a:rPr>
              <a:t>Built quartile-based proxy groups, estimated gross revenue at $22 per parcel, and exported summary tables for Power BI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76288" y="3749040"/>
            <a:ext cx="1691640" cy="329184"/>
          </a:xfrm>
          <a:prstGeom prst="rect">
            <a:avLst/>
          </a:prstGeom>
          <a:solidFill>
            <a:srgbClr val="0A1628"/>
          </a:solidFill>
          <a:ln w="6350">
            <a:solidFill>
              <a:srgbClr val="009B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876288" y="37673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00C9B1"/>
                </a:solidFill>
                <a:latin typeface="Consolas"/>
              </a:rPr>
              <a:t>pandas, numpy, matplotlib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731520"/>
            <a:ext cx="4572000" cy="4572000"/>
          </a:xfrm>
          <a:prstGeom prst="ellipse">
            <a:avLst/>
          </a:prstGeom>
          <a:solidFill>
            <a:srgbClr val="00C9B1">
              <a:alpha val="10000"/>
            </a:srgbClr>
          </a:solidFill>
          <a:ln w="3810">
            <a:solidFill>
              <a:srgbClr val="00C9B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00C9B1">
              <a:alpha val="7000"/>
            </a:srgbClr>
          </a:solidFill>
          <a:ln w="3810">
            <a:solidFill>
              <a:srgbClr val="00C9B1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RECOMMENDATIONS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ABC Company Do Next?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8412480" cy="1005840"/>
          </a:xfrm>
          <a:prstGeom prst="rect">
            <a:avLst/>
          </a:prstGeom>
          <a:solidFill>
            <a:srgbClr val="0D2040"/>
          </a:solidFill>
          <a:ln w="10160">
            <a:solidFill>
              <a:srgbClr val="00C9B1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64008" cy="100584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1600200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00C9B1"/>
                </a:solidFill>
                <a:latin typeface="Calibri"/>
              </a:rPr>
              <a:t>Retain High Growth Customers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4767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B8CCDD"/>
                </a:solidFill>
                <a:latin typeface="Calibri Light"/>
              </a:rPr>
              <a:t>The 588 high-growth customers were the strongest part of the portfolio during the COVID observation period. Protect service quality and prioritise retention.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8412480" cy="1005840"/>
          </a:xfrm>
          <a:prstGeom prst="rect">
            <a:avLst/>
          </a:prstGeom>
          <a:solidFill>
            <a:srgbClr val="0D2040"/>
          </a:solidFill>
          <a:ln w="10160">
            <a:solidFill>
              <a:srgbClr val="FFB740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2651760"/>
            <a:ext cx="64008" cy="1005840"/>
          </a:xfrm>
          <a:prstGeom prst="rect">
            <a:avLst/>
          </a:prstGeom>
          <a:solidFill>
            <a:srgbClr val="FFB740"/>
          </a:solidFill>
          <a:ln w="12700">
            <a:solidFill>
              <a:srgbClr val="FFB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02920" y="2834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2743200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FB740"/>
                </a:solidFill>
                <a:latin typeface="Calibri"/>
              </a:rPr>
              <a:t>Re-engage Declining and Lost Customers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09067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B8CCDD"/>
                </a:solidFill>
                <a:latin typeface="Calibri Light"/>
              </a:rPr>
              <a:t>370 customers declined and 25 were lost. Targeted outreach and account reviews could recover part of this base.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794760"/>
            <a:ext cx="8412480" cy="1005840"/>
          </a:xfrm>
          <a:prstGeom prst="rect">
            <a:avLst/>
          </a:prstGeom>
          <a:solidFill>
            <a:srgbClr val="0D2040"/>
          </a:solidFill>
          <a:ln w="10160">
            <a:solidFill>
              <a:srgbClr val="FF5C6B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65760" y="3794760"/>
            <a:ext cx="64008" cy="1005840"/>
          </a:xfrm>
          <a:prstGeom prst="rect">
            <a:avLst/>
          </a:prstGeom>
          <a:solidFill>
            <a:srgbClr val="FF5C6B"/>
          </a:solidFill>
          <a:ln w="12700">
            <a:solidFill>
              <a:srgbClr val="FF5C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029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3886200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F5C6B"/>
                </a:solidFill>
                <a:latin typeface="Calibri"/>
              </a:rPr>
              <a:t>Plan for Normalisation and Better Data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23367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B8CCDD"/>
                </a:solidFill>
                <a:latin typeface="Calibri Light"/>
              </a:rPr>
              <a:t>2021 returned close to pre-COVID volume levels. The next improvement should add official customer groups and contract discounts to replace proxy estimates.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6360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Notebook-aligned note: customer groups shown in the updated analysis are proxy groups based on 2019 annual volume quartiles.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3965</TotalTime>
  <Words>795</Words>
  <Application>Microsoft Office PowerPoint</Application>
  <PresentationFormat>On-screen Show (16:9)</PresentationFormat>
  <Paragraphs>156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COVID-19 on ABC Company's Parcel Delivery Business</dc:title>
  <dc:subject>PptxGenJS Presentation</dc:subject>
  <dc:creator>PptxGenJS</dc:creator>
  <cp:lastModifiedBy>pooja vekariya</cp:lastModifiedBy>
  <cp:revision>3</cp:revision>
  <dcterms:created xsi:type="dcterms:W3CDTF">2026-04-19T00:48:58Z</dcterms:created>
  <dcterms:modified xsi:type="dcterms:W3CDTF">2026-04-24T04:38:25Z</dcterms:modified>
</cp:coreProperties>
</file>